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Method
面向异构空中航母任务的分阶段协同对接框架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5212080" cy="82296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600" b="0">
                <a:solidFill>
                  <a:srgbClr val="DCE4F0"/>
                </a:solidFill>
                <a:latin typeface="Microsoft YaHei"/>
              </a:rPr>
              <a:t>核心关键词：
窗口触发  |  轨道切入  |  相对速度匹配  |  终端捕获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063240"/>
            <a:ext cx="16459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235EB8"/>
                </a:solidFill>
                <a:latin typeface="Microsoft YaHei"/>
              </a:rPr>
              <a:t>任务形态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异构平台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carrier + fixed-wing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3063240"/>
            <a:ext cx="16459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7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CD7923"/>
                </a:solidFill>
                <a:latin typeface="Microsoft YaHei"/>
              </a:rPr>
              <a:t>目标速度级别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10 m/s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固定翼等待轨道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063240"/>
            <a:ext cx="16459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1D7D48"/>
                </a:solidFill>
                <a:latin typeface="Microsoft YaHei"/>
              </a:rPr>
              <a:t>终端目标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0.2 m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dock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不是看见目标就追，而是先判断可追窗口，
再沿 fixed-wing 轨道切入，最后做末段速度匹配与捕获。</a:t>
            </a:r>
          </a:p>
        </p:txBody>
      </p:sp>
      <p:pic>
        <p:nvPicPr>
          <p:cNvPr id="8" name="Picture 7" descr="full_docking_success_demo_20260315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31520"/>
            <a:ext cx="5029200" cy="2828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Method deck | 2026-03-23 | 适合插入组会主报告的“方法”部分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1. 问题定义：不是双多旋翼靠近，而是异构空中回收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carrier 为主动方，fixed-wing 在等待阶段保持高效盘旋，只在末段有限配合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379476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场景假设</a:t>
            </a:r>
          </a:p>
          <a:p>
            <a:pPr algn="l"/>
            <a:r>
              <a:rPr sz="1450" b="0">
                <a:solidFill>
                  <a:srgbClr val="20252B"/>
                </a:solidFill>
                <a:latin typeface="Microsoft YaHei"/>
              </a:rPr>
              <a:t>异构平台：carrier 是可悬停多旋翼，mini 是必须保持空速的 fixed-wing。</a:t>
            </a:r>
          </a:p>
          <a:p>
            <a:pPr algn="l"/>
            <a:r>
              <a:rPr sz="1450" b="0">
                <a:solidFill>
                  <a:srgbClr val="20252B"/>
                </a:solidFill>
                <a:latin typeface="Microsoft YaHei"/>
              </a:rPr>
              <a:t>任务形态：fixed-wing 先爬升到目标高度，再以定高、定半径、10 m/s 级空速等待盘旋。</a:t>
            </a:r>
          </a:p>
          <a:p>
            <a:pPr algn="l"/>
            <a:r>
              <a:rPr sz="1450" b="0">
                <a:solidFill>
                  <a:srgbClr val="20252B"/>
                </a:solidFill>
                <a:latin typeface="Microsoft YaHei"/>
              </a:rPr>
              <a:t>核心目标：carrier 主动去接机，末段让相对位置和相对速度同时收敛。</a:t>
            </a:r>
          </a:p>
          <a:p>
            <a:pPr algn="l"/>
            <a:r>
              <a:rPr sz="1450" b="0">
                <a:solidFill>
                  <a:srgbClr val="20252B"/>
                </a:solidFill>
                <a:latin typeface="Microsoft YaHei"/>
              </a:rPr>
              <a:t>因此本问题不只是“追上目标”，而是“在真实轨迹约束下稳稳捕获目标”。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60" y="1417320"/>
            <a:ext cx="2743200" cy="1097280"/>
          </a:xfrm>
          <a:prstGeom prst="rect">
            <a:avLst/>
          </a:prstGeom>
          <a:solidFill>
            <a:srgbClr val="DAE8FC"/>
          </a:solidFill>
          <a:ln>
            <a:solidFill>
              <a:srgbClr val="235EB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相对状态
r = p_mini - p_carrier
v_rel = v_mini - v_carrier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2697480"/>
            <a:ext cx="2743200" cy="1097280"/>
          </a:xfrm>
          <a:prstGeom prst="rect">
            <a:avLst/>
          </a:prstGeom>
          <a:solidFill>
            <a:srgbClr val="E3F3E8"/>
          </a:solidFill>
          <a:ln>
            <a:solidFill>
              <a:srgbClr val="1D7D4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对接目标
r -&gt; r_d = [0, 0, 0.2]^T
v_rel -&gt;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977639"/>
            <a:ext cx="2743200" cy="1417320"/>
          </a:xfrm>
          <a:prstGeom prst="rect">
            <a:avLst/>
          </a:prstGeom>
          <a:solidFill>
            <a:srgbClr val="FDEFDB"/>
          </a:solidFill>
          <a:ln>
            <a:solidFill>
              <a:srgbClr val="CD7923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关键区别
不是最小化瞬时距离
而是构造可捕获窗口</a:t>
            </a:r>
          </a:p>
        </p:txBody>
      </p:sp>
      <p:pic>
        <p:nvPicPr>
          <p:cNvPr id="8" name="Picture 7" descr="rviz_stable_after_fix_20260315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886200" cy="20564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对外表述建议：这是“面向 10 m/s 级 fixed-wing 等待轨道”的异构空中回收问题。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2. 窗口触发 + 轨道切入：先决定什么时候追，再决定从哪里切入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直接追飞机本体容易追尾和擦肩；我们先在等待轨道上找“可追窗口”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411480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窗口触发思想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Auto-start 不靠人工 START，也不只看距离阈值。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先对等待轨道上的候选状态做几何筛选：distance, rel_x, rel_y, rel_vx, rel_vy, rel_vz。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满足窗口约束后，再按评分选择最优候选窗口。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11880"/>
            <a:ext cx="3977639" cy="1691640"/>
          </a:xfrm>
          <a:prstGeom prst="rect">
            <a:avLst/>
          </a:prstGeom>
          <a:solidFill>
            <a:srgbClr val="DAE8FC"/>
          </a:solidFill>
          <a:ln>
            <a:solidFill>
              <a:srgbClr val="235EB8"/>
            </a:solidFill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1">
                <a:solidFill>
                  <a:srgbClr val="20252B"/>
                </a:solidFill>
                <a:latin typeface="Microsoft YaHei"/>
              </a:rPr>
              <a:t>窗口评分示意
J_orbit = |d-d*| + 0.6|rel_x-x*| + 0.8|rel_y-y*|
          + 0.3|rel_vy| + 0.8|rel_vz| + v_x 罚项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440680"/>
            <a:ext cx="3977639" cy="50292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300" b="0">
                <a:solidFill>
                  <a:srgbClr val="606A78"/>
                </a:solidFill>
                <a:latin typeface="Microsoft YaHei"/>
              </a:rPr>
              <a:t>解释：核心不是“最近”，而是“这个窗口 carrier 能切进去，后面还接得住”。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325880"/>
            <a:ext cx="2743200" cy="1280160"/>
          </a:xfrm>
          <a:prstGeom prst="rect">
            <a:avLst/>
          </a:prstGeom>
          <a:solidFill>
            <a:srgbClr val="E3F3E8"/>
          </a:solidFill>
          <a:ln>
            <a:solidFill>
              <a:srgbClr val="1D7D4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800" b="1">
                <a:solidFill>
                  <a:srgbClr val="20252B"/>
                </a:solidFill>
                <a:latin typeface="Microsoft YaHei"/>
              </a:rPr>
              <a:t>轨道切入
p_int = p_mini + v_mini T_p - r_d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788920"/>
            <a:ext cx="274320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轨道切入含义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不是朝 fixed-wing 的当前点硬追。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而是先求一个 preview intercept point。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carrier 先并入 fixed-wing 的轨道几何，再进入 close tracking。</a:t>
            </a:r>
          </a:p>
        </p:txBody>
      </p:sp>
      <p:pic>
        <p:nvPicPr>
          <p:cNvPr id="9" name="Picture 8" descr="trajectory_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34440"/>
            <a:ext cx="3611880" cy="33340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术语一句话：先进入目标轨迹，再进入目标附近，而不是一开始就追目标本体。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3. 状态机匹配控制律：每个阶段做不同的事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创新点不在单一控制器，而在于把“何时追/如何切入/如何收口”统一到了阶段式协同框架里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71600"/>
            <a:ext cx="2743200" cy="3154680"/>
          </a:xfrm>
          <a:prstGeom prst="rect">
            <a:avLst/>
          </a:prstGeom>
          <a:solidFill>
            <a:srgbClr val="DAE8FC"/>
          </a:solidFill>
          <a:ln>
            <a:solidFill>
              <a:srgbClr val="235EB8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SEARCH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目标：等待轨道观测 + 形成可追窗口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动作：低增益位置保持，不盲追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输出：最优窗口时刻与候选切入几何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371600"/>
            <a:ext cx="2743200" cy="3154680"/>
          </a:xfrm>
          <a:prstGeom prst="rect">
            <a:avLst/>
          </a:prstGeom>
          <a:solidFill>
            <a:srgbClr val="E3F3E8"/>
          </a:solidFill>
          <a:ln>
            <a:solidFill>
              <a:srgbClr val="235EB8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APPROACH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目标：切进 fixed-wing 轨道附近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方法：LOS / intercept guidance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命令：v_c^app = v_m + v_close + K_e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7648" y="1371600"/>
            <a:ext cx="2743200" cy="3154680"/>
          </a:xfrm>
          <a:prstGeom prst="rect">
            <a:avLst/>
          </a:prstGeom>
          <a:solidFill>
            <a:srgbClr val="FDEFDB"/>
          </a:solidFill>
          <a:ln>
            <a:solidFill>
              <a:srgbClr val="235EB8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TRACKING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目标：同时压相对位置和相对速度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方法：preview cut-in + relative guidance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命令：v_c^trk = v_m + K_p e + K_v v_rel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0576" y="1371600"/>
            <a:ext cx="2743200" cy="3154680"/>
          </a:xfrm>
          <a:prstGeom prst="rect">
            <a:avLst/>
          </a:prstGeom>
          <a:solidFill>
            <a:srgbClr val="E7EEFA"/>
          </a:solidFill>
          <a:ln>
            <a:solidFill>
              <a:srgbClr val="235EB8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DOCKING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目标：从“看见窗口”变成“可捕获窗口”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方法：track frame velocity shaping + backstepping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命令：v_c^dock = v_m + Δv_match + αu_bs</a:t>
            </a:r>
          </a:p>
        </p:txBody>
      </p:sp>
      <p:pic>
        <p:nvPicPr>
          <p:cNvPr id="8" name="Picture 7" descr="phas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709160"/>
            <a:ext cx="5623560" cy="19682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2280" y="4645152"/>
            <a:ext cx="45720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这就是方法的层次性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SEARCH 解决“什么时候开始追”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APPROACH 解决“从哪里切进去”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TRACKING 解决“怎么把几何和速度都压小”</a:t>
            </a:r>
          </a:p>
          <a:p>
            <a:pPr algn="l"/>
            <a:r>
              <a:rPr sz="1320" b="0">
                <a:solidFill>
                  <a:srgbClr val="20252B"/>
                </a:solidFill>
                <a:latin typeface="Microsoft YaHei"/>
              </a:rPr>
              <a:t>DOCKING 解决“最后几十厘米如何稳稳接住”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这页可以直接回答老师：状态机不是工程拼接，而是控制目标与控制律的分层匹配。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4. 终端对接：末段优先匹配速度，再压位置误差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真实空中对接的难点不是最近点，而是最近点附近能不能形成低相对速度捕获包络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3977639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终端控制核心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在 fixed-wing 航迹坐标系下分解误差：along-track / lateral / vertical。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根据 terminal distance 自适应收紧相对速度上限，而不是一上来就强压 0 误差。</a:t>
            </a:r>
          </a:p>
          <a:p>
            <a:pPr algn="l"/>
            <a:r>
              <a:rPr sz="1380" b="0">
                <a:solidFill>
                  <a:srgbClr val="20252B"/>
                </a:solidFill>
                <a:latin typeface="Microsoft YaHei"/>
              </a:rPr>
              <a:t>用 backstepping 输入做辅助阻尼，但主目标是 velocity shaping。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886200"/>
            <a:ext cx="3840480" cy="1554480"/>
          </a:xfrm>
          <a:prstGeom prst="rect">
            <a:avLst/>
          </a:prstGeom>
          <a:solidFill>
            <a:srgbClr val="DAE8FC"/>
          </a:solidFill>
          <a:ln>
            <a:solidFill>
              <a:srgbClr val="235EB8"/>
            </a:solidFill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650" b="1">
                <a:solidFill>
                  <a:srgbClr val="20252B"/>
                </a:solidFill>
                <a:latin typeface="Microsoft YaHei"/>
              </a:rPr>
              <a:t>终端控制抽象
Δv_match = t·f(e_a, v_a) + n·g(e_l, v_l) + k·h(e_z, v_z)
捕获条件：|e| 小、|v_rel| 小，并保持若干控制周期</a:t>
            </a:r>
          </a:p>
        </p:txBody>
      </p:sp>
      <p:pic>
        <p:nvPicPr>
          <p:cNvPr id="6" name="Picture 5" descr="spee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154680" cy="1774508"/>
          </a:xfrm>
          <a:prstGeom prst="rect">
            <a:avLst/>
          </a:prstGeom>
        </p:spPr>
      </p:pic>
      <p:pic>
        <p:nvPicPr>
          <p:cNvPr id="7" name="Picture 6" descr="full_docking_success_demo_20260315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325880"/>
            <a:ext cx="2788920" cy="1568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4892040"/>
            <a:ext cx="1645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7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1D7D48"/>
                </a:solidFill>
                <a:latin typeface="Microsoft YaHei"/>
              </a:rPr>
              <a:t>mock 最优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0.200 m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892040"/>
            <a:ext cx="16459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7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CD7923"/>
                </a:solidFill>
                <a:latin typeface="Microsoft YaHei"/>
              </a:rPr>
              <a:t>PX4 当前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4.237 m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DOCKING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4892040"/>
            <a:ext cx="1828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/>
            <a:r>
              <a:rPr sz="1200" b="1">
                <a:solidFill>
                  <a:srgbClr val="B4372A"/>
                </a:solidFill>
                <a:latin typeface="Microsoft YaHei"/>
              </a:rPr>
              <a:t>PX4 末段相对速度</a:t>
            </a:r>
          </a:p>
          <a:p>
            <a:r>
              <a:rPr sz="2200" b="1">
                <a:solidFill>
                  <a:srgbClr val="20252B"/>
                </a:solidFill>
                <a:latin typeface="Microsoft YaHei"/>
              </a:rPr>
              <a:t>5.699 m/s</a:t>
            </a:r>
          </a:p>
          <a:p>
            <a:r>
              <a:rPr sz="1000" b="0">
                <a:solidFill>
                  <a:srgbClr val="606A78"/>
                </a:solidFill>
                <a:latin typeface="Microsoft YaHei"/>
              </a:rPr>
              <a:t>当前主瓶颈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一句话：DOCKING 不是“只压距离”，而是“先把速度对齐，再把距离收进去”。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5. 为什么这套方法比直接追更有“研究味”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它不是单点控制器，而是一种更接近空中航母任务形态的协同控制框架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2560320" cy="411480"/>
          </a:xfrm>
          <a:prstGeom prst="rect">
            <a:avLst/>
          </a:prstGeom>
          <a:solidFill>
            <a:srgbClr val="F5E5E2"/>
          </a:solidFill>
          <a:ln>
            <a:solidFill>
              <a:srgbClr val="B4372A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600" b="1">
                <a:solidFill>
                  <a:srgbClr val="20252B"/>
                </a:solidFill>
                <a:latin typeface="Microsoft YaHei"/>
              </a:rPr>
              <a:t>常见直接追踪/平台着陆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298448"/>
            <a:ext cx="2743200" cy="411480"/>
          </a:xfrm>
          <a:prstGeom prst="rect">
            <a:avLst/>
          </a:prstGeom>
          <a:solidFill>
            <a:srgbClr val="E4EEFC"/>
          </a:solidFill>
          <a:ln>
            <a:solidFill>
              <a:srgbClr val="235EB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600" b="1">
                <a:solidFill>
                  <a:srgbClr val="20252B"/>
                </a:solidFill>
                <a:latin typeface="Microsoft YaHei"/>
              </a:rPr>
              <a:t>本工作的方法表述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56032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6D2CD"/>
            </a:solidFill>
          </a:ln>
        </p:spPr>
        <p:txBody>
          <a:bodyPr wrap="square" lIns="146304" rIns="109728" tIns="73152" bIns="73152">
            <a:spAutoFit/>
          </a:bodyPr>
          <a:lstStyle/>
          <a:p/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看到目标就追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常按距离阈值触发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单一控制律全程追本体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更适合同质平台或移动平台着陆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83080"/>
            <a:ext cx="27432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D7E2F4"/>
            </a:solidFill>
          </a:ln>
        </p:spPr>
        <p:txBody>
          <a:bodyPr wrap="square" lIns="146304" rIns="109728" tIns="73152" bIns="73152">
            <a:spAutoFit/>
          </a:bodyPr>
          <a:lstStyle/>
          <a:p/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先做窗口评估，再触发追接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先做轨道切入，再做 close tracking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再用终端速度匹配完成捕获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适配 carrier 主动 + fixed-wing 末端协同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98448"/>
            <a:ext cx="4983480" cy="37947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你可以对老师强调的研究点</a:t>
            </a:r>
          </a:p>
          <a:p>
            <a:pPr algn="l"/>
            <a:r>
              <a:rPr sz="1370" b="0">
                <a:solidFill>
                  <a:srgbClr val="20252B"/>
                </a:solidFill>
                <a:latin typeface="Microsoft YaHei"/>
              </a:rPr>
              <a:t>独特性 1：把“何时开始追”显式建模成窗口触发问题。</a:t>
            </a:r>
          </a:p>
          <a:p>
            <a:pPr algn="l"/>
            <a:r>
              <a:rPr sz="1370" b="0">
                <a:solidFill>
                  <a:srgbClr val="20252B"/>
                </a:solidFill>
                <a:latin typeface="Microsoft YaHei"/>
              </a:rPr>
              <a:t>独特性 2：把“如何切入轨道”作为核心几何问题，而不是只做 point pursuit。</a:t>
            </a:r>
          </a:p>
          <a:p>
            <a:pPr algn="l"/>
            <a:r>
              <a:rPr sz="1370" b="0">
                <a:solidFill>
                  <a:srgbClr val="20252B"/>
                </a:solidFill>
                <a:latin typeface="Microsoft YaHei"/>
              </a:rPr>
              <a:t>独特性 3：把末段控制重心从“压距离”转到“速度匹配 + 捕获窗口”。</a:t>
            </a:r>
          </a:p>
          <a:p>
            <a:pPr algn="l"/>
            <a:r>
              <a:rPr sz="1370" b="0">
                <a:solidFill>
                  <a:srgbClr val="20252B"/>
                </a:solidFill>
                <a:latin typeface="Microsoft YaHei"/>
              </a:rPr>
              <a:t>独特性 4：面向异构平台，carrier 和 fixed-wing 采用非对称协同角色分工。</a:t>
            </a:r>
          </a:p>
          <a:p>
            <a:pPr algn="l"/>
            <a:r>
              <a:rPr sz="1370" b="0">
                <a:solidFill>
                  <a:srgbClr val="20252B"/>
                </a:solidFill>
                <a:latin typeface="Microsoft YaHei"/>
              </a:rPr>
              <a:t>工程外延：这套表述天然适合继续加 QP / MPC / 学习型窗口评估器。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32120"/>
            <a:ext cx="10515600" cy="502920"/>
          </a:xfrm>
          <a:prstGeom prst="rect">
            <a:avLst/>
          </a:prstGeom>
          <a:solidFill>
            <a:srgbClr val="E8EFFB"/>
          </a:solidFill>
          <a:ln>
            <a:solidFill>
              <a:srgbClr val="235EB8"/>
            </a:solidFill>
          </a:ln>
        </p:spPr>
        <p:txBody>
          <a:bodyPr wrap="square" tIns="91440" bIns="91440" anchor="ctr">
            <a:spAutoFit/>
          </a:bodyPr>
          <a:lstStyle/>
          <a:p>
            <a:pPr algn="ctr"/>
            <a:r>
              <a:rPr sz="1550" b="1">
                <a:solidFill>
                  <a:srgbClr val="0F1E3C"/>
                </a:solidFill>
                <a:latin typeface="Microsoft YaHei"/>
              </a:rPr>
              <a:t>推荐收束句：本工作的创新不只是“把系统搭起来”，而是提出了一套面向高速 fixed-wing 目标的窗口驱动、轨道切入、分阶段协同对接框架。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如果后面继续深挖，最自然的增强点就是把 DOCKING 末段升级成 QP/MPC，而前面三阶段保持现在的分层结构。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2600" b="1">
                <a:solidFill>
                  <a:srgbClr val="20252B"/>
                </a:solidFill>
                <a:latin typeface="Microsoft YaHei"/>
              </a:rPr>
              <a:t>6. 从 method 到论文化表达：现在就能怎么讲，后续还能怎么加强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1050" b="0">
                <a:solidFill>
                  <a:srgbClr val="606A78"/>
                </a:solidFill>
                <a:latin typeface="Microsoft YaHei"/>
              </a:rPr>
              <a:t>这页适合答辩时用来承接老师的“方法还可以再硬核一点吗”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52120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现在就能讲得住的内容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当前已经能成立的表述：窗口驱动触发 + 轨道切入 + 分阶段协同对接。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当前已经有实现支撑的要点：orbit-phase 评分、LOS/intercept、relative guidance、terminal velocity shaping。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当前与真实 PX4 对接的难点：fixed-wing TECS / loiter / glide 约束使末段速度匹配变难。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因此，方法价值已经成立；现在卡住的是“把真实飞控链上的末段窗口压稳”。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371600"/>
            <a:ext cx="50749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txBody>
          <a:bodyPr wrap="square" lIns="146304" rIns="109728" tIns="73152" bIns="73152">
            <a:spAutoFit/>
          </a:bodyPr>
          <a:lstStyle/>
          <a:p>
            <a:pPr algn="l"/>
            <a:r>
              <a:rPr sz="1600" b="1">
                <a:solidFill>
                  <a:srgbClr val="235EB8"/>
                </a:solidFill>
                <a:latin typeface="Microsoft YaHei"/>
              </a:rPr>
              <a:t>下一版更像论文方法的增强方向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硬核升级方向 1：把 orbit window score 学习化或优化化。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硬核升级方向 2：在 DOCKING 阶段加入 QP / MPC，仅负责终端约束满足。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硬核升级方向 3：把 fixed-wing TECS 状态引入 terminal controller，形成 TECS-aware docking。</a:t>
            </a:r>
          </a:p>
          <a:p>
            <a:pPr algn="l"/>
            <a:r>
              <a:rPr sz="1400" b="0">
                <a:solidFill>
                  <a:srgbClr val="20252B"/>
                </a:solidFill>
                <a:latin typeface="Microsoft YaHei"/>
              </a:rPr>
              <a:t>硬核升级方向 4：把相对状态与视线角融合成统一 guidance law。</a:t>
            </a:r>
          </a:p>
        </p:txBody>
      </p:sp>
      <p:pic>
        <p:nvPicPr>
          <p:cNvPr id="6" name="Picture 5" descr="fixed_wing_wait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4892040"/>
            <a:ext cx="4389120" cy="41801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55080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t">
            <a:spAutoFit/>
          </a:bodyPr>
          <a:lstStyle/>
          <a:p>
            <a:pPr algn="l"/>
            <a:r>
              <a:rPr sz="900" b="0">
                <a:solidFill>
                  <a:srgbClr val="606A78"/>
                </a:solidFill>
                <a:latin typeface="Microsoft YaHei"/>
              </a:rPr>
              <a:t>建议讲法：现在的方法骨架已经足够清楚，后续增强是在这个骨架上增加更强的终端优化与飞控感知。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